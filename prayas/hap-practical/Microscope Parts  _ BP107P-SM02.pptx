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5" r:id="rId10"/>
    <p:sldId id="262"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1" d="100"/>
          <a:sy n="71" d="100"/>
        </p:scale>
        <p:origin x="138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online-sciences.com/biology/light-microscope-and-electron-microscope/" TargetMode="External"/><Relationship Id="rId2" Type="http://schemas.openxmlformats.org/officeDocument/2006/relationships/hyperlink" Target="https://www.online-sciences.com/health/forensic-pathology-digital-imaging-telepathology-microscopes-in-clinical-pathology/"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b="1" dirty="0"/>
              <a:t>Simple and Compound Microscope</a:t>
            </a:r>
          </a:p>
        </p:txBody>
      </p:sp>
      <p:sp>
        <p:nvSpPr>
          <p:cNvPr id="3" name="Subtitle 2"/>
          <p:cNvSpPr>
            <a:spLocks noGrp="1"/>
          </p:cNvSpPr>
          <p:nvPr>
            <p:ph type="subTitle" idx="1"/>
          </p:nvPr>
        </p:nvSpPr>
        <p:spPr/>
        <p:txBody>
          <a:bodyPr/>
          <a:lstStyle/>
          <a:p>
            <a:r>
              <a:rPr dirty="0" smtClean="0"/>
              <a:t>Parts</a:t>
            </a:r>
            <a:r>
              <a:rPr lang="en-US" dirty="0" smtClean="0"/>
              <a:t> &amp; </a:t>
            </a:r>
            <a:r>
              <a:rPr dirty="0" smtClean="0"/>
              <a:t>Functions</a:t>
            </a:r>
            <a:endParaRPr lang="en-US" dirty="0" smtClean="0"/>
          </a:p>
          <a:p>
            <a:r>
              <a:rPr lang="en-US" dirty="0" smtClean="0"/>
              <a:t>Asst</a:t>
            </a:r>
            <a:r>
              <a:rPr lang="en-US" dirty="0" smtClean="0"/>
              <a:t>. Professor Chetan Singh</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Simple Microscope - Overview</a:t>
            </a:r>
          </a:p>
        </p:txBody>
      </p:sp>
      <p:sp>
        <p:nvSpPr>
          <p:cNvPr id="3" name="Content Placeholder 2"/>
          <p:cNvSpPr>
            <a:spLocks noGrp="1"/>
          </p:cNvSpPr>
          <p:nvPr>
            <p:ph idx="1"/>
          </p:nvPr>
        </p:nvSpPr>
        <p:spPr/>
        <p:txBody>
          <a:bodyPr/>
          <a:lstStyle/>
          <a:p>
            <a:r>
              <a:rPr b="1" dirty="0"/>
              <a:t>• A simple microscope uses a single convex lens for magnification.</a:t>
            </a:r>
          </a:p>
          <a:p>
            <a:r>
              <a:rPr b="1" dirty="0"/>
              <a:t>• Functions like a magnifying glass.</a:t>
            </a:r>
          </a:p>
          <a:p>
            <a:r>
              <a:rPr b="1" dirty="0"/>
              <a:t>• Magnifies objects up to 20x.</a:t>
            </a:r>
          </a:p>
          <a:p>
            <a:r>
              <a:rPr b="1" dirty="0"/>
              <a:t>• Commonly used by watchmakers and jewelers.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Simple Microscope - Parts &amp; Functions</a:t>
            </a:r>
          </a:p>
        </p:txBody>
      </p:sp>
      <p:sp>
        <p:nvSpPr>
          <p:cNvPr id="3" name="Content Placeholder 2"/>
          <p:cNvSpPr>
            <a:spLocks noGrp="1"/>
          </p:cNvSpPr>
          <p:nvPr>
            <p:ph idx="1"/>
          </p:nvPr>
        </p:nvSpPr>
        <p:spPr/>
        <p:txBody>
          <a:bodyPr/>
          <a:lstStyle/>
          <a:p>
            <a:r>
              <a:rPr b="1" dirty="0"/>
              <a:t>• Lens: Magnifies the object.</a:t>
            </a:r>
          </a:p>
          <a:p>
            <a:r>
              <a:rPr b="1" dirty="0"/>
              <a:t>• Handle: Helps to hold the microscope.</a:t>
            </a:r>
          </a:p>
          <a:p>
            <a:r>
              <a:rPr b="1" dirty="0"/>
              <a:t>• Stage: Platform to place the object.</a:t>
            </a:r>
          </a:p>
          <a:p>
            <a:r>
              <a:rPr b="1" dirty="0"/>
              <a:t>• Mirror (optional): Reflects light onto the object.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Compound Microscope - Overview</a:t>
            </a:r>
          </a:p>
        </p:txBody>
      </p:sp>
      <p:sp>
        <p:nvSpPr>
          <p:cNvPr id="3" name="Content Placeholder 2"/>
          <p:cNvSpPr>
            <a:spLocks noGrp="1"/>
          </p:cNvSpPr>
          <p:nvPr>
            <p:ph idx="1"/>
          </p:nvPr>
        </p:nvSpPr>
        <p:spPr/>
        <p:txBody>
          <a:bodyPr/>
          <a:lstStyle/>
          <a:p>
            <a:r>
              <a:rPr dirty="0"/>
              <a:t>• </a:t>
            </a:r>
            <a:r>
              <a:rPr b="1" dirty="0"/>
              <a:t>Uses two or more lenses for higher magnification.</a:t>
            </a:r>
          </a:p>
          <a:p>
            <a:r>
              <a:rPr b="1" dirty="0"/>
              <a:t>• Magnifies objects up to 1000x or more.</a:t>
            </a:r>
          </a:p>
          <a:p>
            <a:r>
              <a:rPr b="1" dirty="0"/>
              <a:t>• Commonly used in labs to observe cells, bacteria, and microorganisms.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Compound Microscope - Parts &amp; Functions</a:t>
            </a:r>
          </a:p>
        </p:txBody>
      </p:sp>
      <p:sp>
        <p:nvSpPr>
          <p:cNvPr id="3" name="Content Placeholder 2"/>
          <p:cNvSpPr>
            <a:spLocks noGrp="1"/>
          </p:cNvSpPr>
          <p:nvPr>
            <p:ph idx="1"/>
          </p:nvPr>
        </p:nvSpPr>
        <p:spPr/>
        <p:txBody>
          <a:bodyPr>
            <a:normAutofit fontScale="85000" lnSpcReduction="10000"/>
          </a:bodyPr>
          <a:lstStyle/>
          <a:p>
            <a:r>
              <a:rPr dirty="0"/>
              <a:t>• </a:t>
            </a:r>
            <a:r>
              <a:rPr b="1" dirty="0"/>
              <a:t>Eyepiece: Lens you look through, usually 10x magnification.</a:t>
            </a:r>
          </a:p>
          <a:p>
            <a:r>
              <a:rPr b="1" dirty="0"/>
              <a:t>• Objective Lenses: Provide main magnification (10x, 40x, 100x).</a:t>
            </a:r>
          </a:p>
          <a:p>
            <a:r>
              <a:rPr b="1" dirty="0"/>
              <a:t>• Stage: Platform for placing slides.</a:t>
            </a:r>
          </a:p>
          <a:p>
            <a:r>
              <a:rPr b="1" dirty="0"/>
              <a:t>• Light Source: Illuminates the specimen.</a:t>
            </a:r>
          </a:p>
          <a:p>
            <a:r>
              <a:rPr b="1" dirty="0"/>
              <a:t>• Coarse Adjustment: Brings object into general focus.</a:t>
            </a:r>
          </a:p>
          <a:p>
            <a:r>
              <a:rPr b="1" dirty="0"/>
              <a:t>• Fine Adjustment: Sharpens the focus.</a:t>
            </a:r>
          </a:p>
          <a:p>
            <a:r>
              <a:rPr b="1" dirty="0"/>
              <a:t>• Arm: Supports the tube and connects it to the base.</a:t>
            </a:r>
          </a:p>
          <a:p>
            <a:r>
              <a:rPr b="1" dirty="0"/>
              <a:t>• Base: Supports the microscope</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Comparison: Simple vs Compound Microscope</a:t>
            </a:r>
          </a:p>
        </p:txBody>
      </p:sp>
      <p:sp>
        <p:nvSpPr>
          <p:cNvPr id="3" name="Content Placeholder 2"/>
          <p:cNvSpPr>
            <a:spLocks noGrp="1"/>
          </p:cNvSpPr>
          <p:nvPr>
            <p:ph idx="1"/>
          </p:nvPr>
        </p:nvSpPr>
        <p:spPr/>
        <p:txBody>
          <a:bodyPr>
            <a:normAutofit fontScale="92500" lnSpcReduction="20000"/>
          </a:bodyPr>
          <a:lstStyle/>
          <a:p>
            <a:r>
              <a:rPr b="1" dirty="0"/>
              <a:t>Simple Microscope:</a:t>
            </a:r>
          </a:p>
          <a:p>
            <a:r>
              <a:rPr b="1" dirty="0"/>
              <a:t>• One lens</a:t>
            </a:r>
          </a:p>
          <a:p>
            <a:r>
              <a:rPr b="1" dirty="0"/>
              <a:t>• Low magnification</a:t>
            </a:r>
          </a:p>
          <a:p>
            <a:r>
              <a:rPr b="1" dirty="0"/>
              <a:t>• Easy to use and portable</a:t>
            </a:r>
          </a:p>
          <a:p>
            <a:endParaRPr b="1" dirty="0"/>
          </a:p>
          <a:p>
            <a:r>
              <a:rPr b="1" dirty="0"/>
              <a:t>Compound Microscope:</a:t>
            </a:r>
          </a:p>
          <a:p>
            <a:r>
              <a:rPr b="1" dirty="0"/>
              <a:t>• Two or more lenses</a:t>
            </a:r>
          </a:p>
          <a:p>
            <a:r>
              <a:rPr b="1" dirty="0"/>
              <a:t>• High magnification</a:t>
            </a:r>
          </a:p>
          <a:p>
            <a:r>
              <a:rPr b="1" dirty="0"/>
              <a:t>• Used in scientific and medical research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3222"/>
            <a:ext cx="9144000" cy="6231555"/>
          </a:xfrm>
          <a:prstGeom prst="rect">
            <a:avLst/>
          </a:prstGeom>
        </p:spPr>
      </p:pic>
      <p:sp>
        <p:nvSpPr>
          <p:cNvPr id="2" name="Rectangle 1"/>
          <p:cNvSpPr/>
          <p:nvPr/>
        </p:nvSpPr>
        <p:spPr>
          <a:xfrm>
            <a:off x="6333565" y="5809129"/>
            <a:ext cx="1479176" cy="188259"/>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938379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932513"/>
            <a:ext cx="8969188" cy="5684505"/>
          </a:xfrm>
          <a:prstGeom prst="rect">
            <a:avLst/>
          </a:prstGeom>
        </p:spPr>
        <p:txBody>
          <a:bodyPr wrap="square">
            <a:spAutoFit/>
          </a:bodyPr>
          <a:lstStyle/>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The lowest power objective lens (for example, 4x) should be snapped into place by rotating the revolving turret/nosepiece.</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Place the microscope slide on the stage and secure it using the stage clips.</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Turn the focus knob to raise the stage as you look at the objective lens and stage from the side. Without letting the objective hit the coverslip, raise it as high as it will go.</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Adjust the focus knob to focus the image while looking through the eyepiece.</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Adjust the light’s brightness and the condenser’s position for the high amount of light.</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When the sample is in the center of the field of vision, move the microscope slide. </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For the clearest image, adjust the condenser and light intensity after focusing the sample using the focus knob.</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You can switch to the next objective lenses once you obtain a clear image of your sample with the lowest power objective. The sample’s focus and/or the condenser and light intensity may need to be adjusted.</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0"/>
              </a:spcAft>
              <a:buSzPts val="1000"/>
              <a:buFont typeface="Symbol" panose="05050102010706020507" pitchFamily="18" charset="2"/>
              <a:buChar char=""/>
              <a:tabLst>
                <a:tab pos="457200" algn="l"/>
              </a:tabLst>
            </a:pPr>
            <a:r>
              <a:rPr lang="en-IN" b="1" dirty="0">
                <a:solidFill>
                  <a:srgbClr val="000000"/>
                </a:solidFill>
                <a:latin typeface="Segoe UI" panose="020B0502040204020203" pitchFamily="34" charset="0"/>
                <a:ea typeface="Times New Roman" panose="02020603050405020304" pitchFamily="18" charset="0"/>
                <a:cs typeface="Times New Roman" panose="02020603050405020304" pitchFamily="18" charset="0"/>
              </a:rPr>
              <a:t>Make sure the objective lens doesn’t touch the slide!</a:t>
            </a:r>
            <a:endParaRPr lang="en-IN" b="1" dirty="0">
              <a:latin typeface="Calibri" panose="020F0502020204030204" pitchFamily="34" charset="0"/>
              <a:ea typeface="Calibri" panose="020F0502020204030204" pitchFamily="34" charset="0"/>
              <a:cs typeface="Times New Roman" panose="02020603050405020304" pitchFamily="18" charset="0"/>
            </a:endParaRPr>
          </a:p>
          <a:p>
            <a:pPr algn="just"/>
            <a:r>
              <a:rPr lang="en-IN" b="1" dirty="0">
                <a:solidFill>
                  <a:srgbClr val="000000"/>
                </a:solidFill>
                <a:latin typeface="Segoe UI" panose="020B0502040204020203" pitchFamily="34" charset="0"/>
                <a:ea typeface="Times New Roman" panose="02020603050405020304" pitchFamily="18" charset="0"/>
              </a:rPr>
              <a:t>After you’re done, lower the stage, click the low power lens into place, and then take out the slide</a:t>
            </a:r>
            <a:endParaRPr lang="en-IN" b="1" dirty="0"/>
          </a:p>
        </p:txBody>
      </p:sp>
      <p:sp>
        <p:nvSpPr>
          <p:cNvPr id="5" name="TextBox 4"/>
          <p:cNvSpPr txBox="1"/>
          <p:nvPr/>
        </p:nvSpPr>
        <p:spPr>
          <a:xfrm>
            <a:off x="2528047" y="326322"/>
            <a:ext cx="4235824" cy="461665"/>
          </a:xfrm>
          <a:prstGeom prst="rect">
            <a:avLst/>
          </a:prstGeom>
          <a:noFill/>
        </p:spPr>
        <p:txBody>
          <a:bodyPr wrap="square" rtlCol="0">
            <a:spAutoFit/>
          </a:bodyPr>
          <a:lstStyle/>
          <a:p>
            <a:pPr algn="ctr"/>
            <a:r>
              <a:rPr lang="en-US" sz="2400" b="1" u="sng" dirty="0" smtClean="0"/>
              <a:t>STEPS</a:t>
            </a:r>
            <a:endParaRPr lang="en-IN" sz="2400" b="1" u="sng" dirty="0"/>
          </a:p>
        </p:txBody>
      </p:sp>
    </p:spTree>
    <p:extLst>
      <p:ext uri="{BB962C8B-B14F-4D97-AF65-F5344CB8AC3E}">
        <p14:creationId xmlns:p14="http://schemas.microsoft.com/office/powerpoint/2010/main" val="6989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941" y="1956563"/>
            <a:ext cx="8417859" cy="1870512"/>
          </a:xfrm>
          <a:prstGeom prst="rect">
            <a:avLst/>
          </a:prstGeom>
        </p:spPr>
        <p:txBody>
          <a:bodyPr wrap="square">
            <a:spAutoFit/>
          </a:bodyPr>
          <a:lstStyle/>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u="sng" dirty="0">
                <a:solidFill>
                  <a:srgbClr val="333333"/>
                </a:solidFill>
                <a:latin typeface="inherit"/>
                <a:ea typeface="Times New Roman" panose="02020603050405020304" pitchFamily="18" charset="0"/>
                <a:cs typeface="Arial" panose="020B0604020202020204" pitchFamily="34" charset="0"/>
              </a:rPr>
              <a:t>Biology</a:t>
            </a:r>
            <a:r>
              <a:rPr lang="en-IN" b="1" dirty="0">
                <a:solidFill>
                  <a:srgbClr val="333333"/>
                </a:solidFill>
                <a:latin typeface="inherit"/>
                <a:ea typeface="Times New Roman" panose="02020603050405020304" pitchFamily="18" charset="0"/>
                <a:cs typeface="Arial" panose="020B0604020202020204" pitchFamily="34" charset="0"/>
              </a:rPr>
              <a:t>: </a:t>
            </a:r>
            <a:r>
              <a:rPr lang="en-IN" b="1" dirty="0">
                <a:solidFill>
                  <a:srgbClr val="3B8DBD"/>
                </a:solidFill>
                <a:latin typeface="inherit"/>
                <a:ea typeface="Times New Roman" panose="02020603050405020304" pitchFamily="18" charset="0"/>
                <a:cs typeface="Arial" panose="020B0604020202020204" pitchFamily="34" charset="0"/>
                <a:hlinkClick r:id="rId2"/>
              </a:rPr>
              <a:t>Microscopes</a:t>
            </a:r>
            <a:r>
              <a:rPr lang="en-IN" b="1" dirty="0">
                <a:solidFill>
                  <a:srgbClr val="333333"/>
                </a:solidFill>
                <a:latin typeface="inherit"/>
                <a:ea typeface="Times New Roman" panose="02020603050405020304" pitchFamily="18" charset="0"/>
                <a:cs typeface="Arial" panose="020B0604020202020204" pitchFamily="34" charset="0"/>
              </a:rPr>
              <a:t> are essential for studying cells, tissues, and organisms. They are used to diagnose diseases, develop new drugs, and understand how life </a:t>
            </a:r>
            <a:r>
              <a:rPr lang="en-IN" b="1" dirty="0" smtClean="0">
                <a:solidFill>
                  <a:srgbClr val="333333"/>
                </a:solidFill>
                <a:latin typeface="inherit"/>
                <a:ea typeface="Times New Roman" panose="02020603050405020304" pitchFamily="18" charset="0"/>
                <a:cs typeface="Arial" panose="020B0604020202020204" pitchFamily="34" charset="0"/>
              </a:rPr>
              <a:t>works.</a:t>
            </a:r>
            <a:endParaRPr lang="en-IN" sz="1400" dirty="0" smtClean="0">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fontAlgn="base">
              <a:lnSpc>
                <a:spcPct val="107000"/>
              </a:lnSpc>
              <a:spcAft>
                <a:spcPts val="0"/>
              </a:spcAft>
              <a:buSzPts val="1000"/>
              <a:buFont typeface="Symbol" panose="05050102010706020507" pitchFamily="18" charset="2"/>
              <a:buChar char=""/>
              <a:tabLst>
                <a:tab pos="457200" algn="l"/>
              </a:tabLst>
            </a:pPr>
            <a:r>
              <a:rPr lang="en-IN" b="1" u="sng" dirty="0" smtClean="0">
                <a:solidFill>
                  <a:srgbClr val="333333"/>
                </a:solidFill>
                <a:latin typeface="inherit"/>
                <a:ea typeface="Times New Roman" panose="02020603050405020304" pitchFamily="18" charset="0"/>
                <a:cs typeface="Arial" panose="020B0604020202020204" pitchFamily="34" charset="0"/>
              </a:rPr>
              <a:t>Medicine</a:t>
            </a:r>
            <a:r>
              <a:rPr lang="en-IN" b="1" dirty="0">
                <a:solidFill>
                  <a:srgbClr val="333333"/>
                </a:solidFill>
                <a:latin typeface="inherit"/>
                <a:ea typeface="Times New Roman" panose="02020603050405020304" pitchFamily="18" charset="0"/>
                <a:cs typeface="Arial" panose="020B0604020202020204" pitchFamily="34" charset="0"/>
              </a:rPr>
              <a:t>: </a:t>
            </a:r>
            <a:r>
              <a:rPr lang="en-IN" b="1" dirty="0">
                <a:solidFill>
                  <a:srgbClr val="3B8DBD"/>
                </a:solidFill>
                <a:latin typeface="inherit"/>
                <a:ea typeface="Times New Roman" panose="02020603050405020304" pitchFamily="18" charset="0"/>
                <a:cs typeface="Arial" panose="020B0604020202020204" pitchFamily="34" charset="0"/>
                <a:hlinkClick r:id="rId3"/>
              </a:rPr>
              <a:t>Microscopes</a:t>
            </a:r>
            <a:r>
              <a:rPr lang="en-IN" b="1" dirty="0">
                <a:solidFill>
                  <a:srgbClr val="333333"/>
                </a:solidFill>
                <a:latin typeface="inherit"/>
                <a:ea typeface="Times New Roman" panose="02020603050405020304" pitchFamily="18" charset="0"/>
                <a:cs typeface="Arial" panose="020B0604020202020204" pitchFamily="34" charset="0"/>
              </a:rPr>
              <a:t> can be used to diagnose diseases, such as cancer and infectious diseases. They are used to monitor the progress of treatment.</a:t>
            </a:r>
            <a:endParaRPr lang="en-IN" dirty="0"/>
          </a:p>
        </p:txBody>
      </p:sp>
      <p:sp>
        <p:nvSpPr>
          <p:cNvPr id="5" name="TextBox 4"/>
          <p:cNvSpPr txBox="1"/>
          <p:nvPr/>
        </p:nvSpPr>
        <p:spPr>
          <a:xfrm>
            <a:off x="551329" y="1349171"/>
            <a:ext cx="6320117" cy="461665"/>
          </a:xfrm>
          <a:prstGeom prst="rect">
            <a:avLst/>
          </a:prstGeom>
          <a:noFill/>
        </p:spPr>
        <p:txBody>
          <a:bodyPr wrap="square" rtlCol="0">
            <a:spAutoFit/>
          </a:bodyPr>
          <a:lstStyle/>
          <a:p>
            <a:r>
              <a:rPr lang="en-US" sz="2400" b="1" u="sng" dirty="0" smtClean="0"/>
              <a:t>Medical Application(s):</a:t>
            </a:r>
            <a:endParaRPr lang="en-IN" sz="2400" b="1" u="sng" dirty="0"/>
          </a:p>
        </p:txBody>
      </p:sp>
    </p:spTree>
    <p:extLst>
      <p:ext uri="{BB962C8B-B14F-4D97-AF65-F5344CB8AC3E}">
        <p14:creationId xmlns:p14="http://schemas.microsoft.com/office/powerpoint/2010/main" val="2523073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587532"/>
            <a:ext cx="8229600" cy="1143000"/>
          </a:xfrm>
        </p:spPr>
        <p:txBody>
          <a:bodyPr/>
          <a:lstStyle/>
          <a:p>
            <a:r>
              <a:rPr dirty="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53</TotalTime>
  <Words>385</Words>
  <Application>Microsoft Office PowerPoint</Application>
  <PresentationFormat>On-screen Show (4:3)</PresentationFormat>
  <Paragraphs>51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inherit</vt:lpstr>
      <vt:lpstr>Segoe UI</vt:lpstr>
      <vt:lpstr>Symbol</vt:lpstr>
      <vt:lpstr>Times New Roman</vt:lpstr>
      <vt:lpstr>Office Theme</vt:lpstr>
      <vt:lpstr>Simple and Compound Microscope</vt:lpstr>
      <vt:lpstr>Simple Microscope - Overview</vt:lpstr>
      <vt:lpstr>Simple Microscope - Parts &amp; Functions</vt:lpstr>
      <vt:lpstr>Compound Microscope - Overview</vt:lpstr>
      <vt:lpstr>Compound Microscope - Parts &amp; Functions</vt:lpstr>
      <vt:lpstr>Comparison: Simple vs Compound Microscope</vt:lpstr>
      <vt:lpstr>PowerPoint Presentation</vt:lpstr>
      <vt:lpstr>PowerPoint Presentation</vt:lpstr>
      <vt:lpstr>PowerPoint Presentation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Simple and Compound Microscope</dc:title>
  <dc:subject/>
  <dc:creator/>
  <cp:keywords/>
  <dc:description>generated using python-pptx</dc:description>
  <cp:lastModifiedBy>xyz</cp:lastModifiedBy>
  <cp:revision>9</cp:revision>
  <dcterms:created xsi:type="dcterms:W3CDTF">2013-01-27T09:14:16Z</dcterms:created>
  <dcterms:modified xsi:type="dcterms:W3CDTF">2025-08-14T11:02:54Z</dcterms:modified>
  <cp:category/>
</cp:coreProperties>
</file>